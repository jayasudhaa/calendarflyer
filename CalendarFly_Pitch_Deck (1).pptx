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120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30271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0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822960" cy="822960"/>
          </a:xfrm>
          <a:prstGeom prst="ellipse">
            <a:avLst/>
          </a:prstGeom>
          <a:solidFill>
            <a:srgbClr val="C994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B100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ॐ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45920" y="530352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CalendarFly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645920" y="1097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8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event management for modern communities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148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C99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 Profit Orgs like Temples, </a:t>
            </a:r>
            <a:r>
              <a:rPr lang="en-US" sz="3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Kootas</a:t>
            </a: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Community Events still run on spreadsheets and screenshots.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3794760"/>
            <a:ext cx="457200" cy="457200"/>
          </a:xfrm>
          <a:prstGeom prst="ellipse">
            <a:avLst/>
          </a:prstGeom>
          <a:solidFill>
            <a:srgbClr val="7C2D12"/>
          </a:solidFill>
          <a:ln w="12700">
            <a:solidFill>
              <a:srgbClr val="C994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794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9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3739896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volunteer manually re-types every event into a spreadsheet, a flyer, and a dozen WhatsApp messages.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4544568"/>
            <a:ext cx="457200" cy="457200"/>
          </a:xfrm>
          <a:prstGeom prst="ellipse">
            <a:avLst/>
          </a:prstGeom>
          <a:solidFill>
            <a:srgbClr val="7C2D12"/>
          </a:solidFill>
          <a:ln w="12700">
            <a:solidFill>
              <a:srgbClr val="C994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4544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9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4489704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source of truth — the calendar, the chatbot, and the broadcast list all drift out of sync.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5294376"/>
            <a:ext cx="457200" cy="457200"/>
          </a:xfrm>
          <a:prstGeom prst="ellipse">
            <a:avLst/>
          </a:prstGeom>
          <a:solidFill>
            <a:srgbClr val="7C2D12"/>
          </a:solidFill>
          <a:ln w="12700">
            <a:solidFill>
              <a:srgbClr val="C994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52943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9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5239512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tools don't fit: Eventbrite doesn't know what a panchang is, and isn't WhatsApp-first.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503920" y="2148840"/>
            <a:ext cx="3108960" cy="3977640"/>
          </a:xfrm>
          <a:prstGeom prst="roundRect">
            <a:avLst>
              <a:gd name="adj" fmla="val 3529"/>
            </a:avLst>
          </a:prstGeom>
          <a:solidFill>
            <a:srgbClr val="3A1508"/>
          </a:solidFill>
          <a:ln w="9525">
            <a:solidFill>
              <a:srgbClr val="C994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32520" y="2331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Temple Assoc.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732520" y="278892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7C2D12"/>
          </a:solidFill>
          <a:ln/>
        </p:spPr>
      </p:sp>
      <p:sp>
        <p:nvSpPr>
          <p:cNvPr id="20" name="Text 18"/>
          <p:cNvSpPr/>
          <p:nvPr/>
        </p:nvSpPr>
        <p:spPr>
          <a:xfrm>
            <a:off x="8869680" y="27889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Excel RSVP list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732520" y="3410712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7C2D12"/>
          </a:solidFill>
          <a:ln/>
        </p:spPr>
      </p:sp>
      <p:sp>
        <p:nvSpPr>
          <p:cNvPr id="22" name="Text 20"/>
          <p:cNvSpPr/>
          <p:nvPr/>
        </p:nvSpPr>
        <p:spPr>
          <a:xfrm>
            <a:off x="8869680" y="341071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Printed flyer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732520" y="4032504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7C2D12"/>
          </a:solidFill>
          <a:ln/>
        </p:spPr>
      </p:sp>
      <p:sp>
        <p:nvSpPr>
          <p:cNvPr id="24" name="Text 22"/>
          <p:cNvSpPr/>
          <p:nvPr/>
        </p:nvSpPr>
        <p:spPr>
          <a:xfrm>
            <a:off x="8869680" y="4032504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Many WhatsApp groups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732520" y="4654296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7C2D12"/>
          </a:solidFill>
          <a:ln/>
        </p:spPr>
      </p:sp>
      <p:sp>
        <p:nvSpPr>
          <p:cNvPr id="26" name="Text 24"/>
          <p:cNvSpPr/>
          <p:nvPr/>
        </p:nvSpPr>
        <p:spPr>
          <a:xfrm>
            <a:off x="8869680" y="465429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Physical calendar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732520" y="5276088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7C2D12"/>
          </a:solidFill>
          <a:ln/>
        </p:spPr>
      </p:sp>
      <p:sp>
        <p:nvSpPr>
          <p:cNvPr id="28" name="Text 26"/>
          <p:cNvSpPr/>
          <p:nvPr/>
        </p:nvSpPr>
        <p:spPr>
          <a:xfrm>
            <a:off x="8869680" y="527608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 "When's the pooja?"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9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NEED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1C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massive, underserved, volunteer-run market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0" cy="1920240"/>
          </a:xfrm>
          <a:prstGeom prst="roundRect">
            <a:avLst>
              <a:gd name="adj" fmla="val 4762"/>
            </a:avLst>
          </a:prstGeom>
          <a:solidFill>
            <a:srgbClr val="FBF3E7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8288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7C2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1000s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777240" y="2697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5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Hindu temples &amp; cultural associations across the US, India and rest of the world, mostly run entirely by volunteers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51960" y="1691640"/>
            <a:ext cx="3474720" cy="1920240"/>
          </a:xfrm>
          <a:prstGeom prst="roundRect">
            <a:avLst>
              <a:gd name="adj" fmla="val 4762"/>
            </a:avLst>
          </a:prstGeom>
          <a:solidFill>
            <a:srgbClr val="FBF3E7"/>
          </a:solidFill>
          <a:ln/>
        </p:spPr>
      </p:sp>
      <p:sp>
        <p:nvSpPr>
          <p:cNvPr id="8" name="Text 6"/>
          <p:cNvSpPr/>
          <p:nvPr/>
        </p:nvSpPr>
        <p:spPr>
          <a:xfrm>
            <a:off x="4480560" y="18288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7C2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4480560" y="2697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5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dedicated, Social Media, management tools built for this community today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55280" y="1691640"/>
            <a:ext cx="3474720" cy="1920240"/>
          </a:xfrm>
          <a:prstGeom prst="roundRect">
            <a:avLst>
              <a:gd name="adj" fmla="val 4762"/>
            </a:avLst>
          </a:prstGeom>
          <a:solidFill>
            <a:srgbClr val="FBF3E7"/>
          </a:solidFill>
          <a:ln/>
        </p:spPr>
      </p:sp>
      <p:sp>
        <p:nvSpPr>
          <p:cNvPr id="11" name="Text 9"/>
          <p:cNvSpPr/>
          <p:nvPr/>
        </p:nvSpPr>
        <p:spPr>
          <a:xfrm>
            <a:off x="8183880" y="18288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7C2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8183880" y="2697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5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manual: events, RSVPs, and broadcasts are re-typed by hand every single time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3886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1C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existing tools miss the mark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4360" y="4416552"/>
            <a:ext cx="109728" cy="109728"/>
          </a:xfrm>
          <a:prstGeom prst="rect">
            <a:avLst/>
          </a:prstGeom>
          <a:solidFill>
            <a:srgbClr val="C9943A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4251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1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Eventbrite / Mailchimp: no panchang, no deity-aware content, priced for marketing teams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94360" y="4919472"/>
            <a:ext cx="109728" cy="109728"/>
          </a:xfrm>
          <a:prstGeom prst="rect">
            <a:avLst/>
          </a:prstGeom>
          <a:solidFill>
            <a:srgbClr val="C9943A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7548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1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calendar apps: no WhatsApp-native broadcast, no AI chatbot grounded in real events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94360" y="5422392"/>
            <a:ext cx="109728" cy="109728"/>
          </a:xfrm>
          <a:prstGeom prst="rect">
            <a:avLst/>
          </a:prstGeom>
          <a:solidFill>
            <a:srgbClr val="C9943A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2578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1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Custom-built solutions: expensive, one-off, no ongoing support for a small nonprofit budget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1C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admin panel. Every channel stays in sync.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5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event once — CalendarFly instantly powers the public calendar, the AI chatbot, WhatsApp broadcast, and a generated flyer, all from the same live record.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02920" cy="502920"/>
          </a:xfrm>
          <a:prstGeom prst="ellipse">
            <a:avLst/>
          </a:prstGeom>
          <a:solidFill>
            <a:srgbClr val="7C2D1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331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88720" y="2286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A1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Calendar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188720" y="260604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5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Panchang-aware public + admin calendars with tithi/nakshatra built in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160520" y="2331720"/>
            <a:ext cx="502920" cy="502920"/>
          </a:xfrm>
          <a:prstGeom prst="ellipse">
            <a:avLst/>
          </a:prstGeom>
          <a:solidFill>
            <a:srgbClr val="7C2D12"/>
          </a:solidFill>
          <a:ln/>
        </p:spPr>
      </p:sp>
      <p:sp>
        <p:nvSpPr>
          <p:cNvPr id="10" name="Text 8"/>
          <p:cNvSpPr/>
          <p:nvPr/>
        </p:nvSpPr>
        <p:spPr>
          <a:xfrm>
            <a:off x="4160520" y="2331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800600" y="2286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A1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800600" y="260604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5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Claude-powered assistant answers from your live event data, 24/7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0" y="2331720"/>
            <a:ext cx="502920" cy="502920"/>
          </a:xfrm>
          <a:prstGeom prst="ellipse">
            <a:avLst/>
          </a:prstGeom>
          <a:solidFill>
            <a:srgbClr val="7C2D12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0" y="2331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🪔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412480" y="2286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A1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Flyer Studio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412480" y="260604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5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Deity/festival-specific image prompts generate on-brand flyers in seconds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7C2D1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📢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41148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A1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Omnichannel Broadcast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188720" y="443484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5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to WhatsApp, with Facebook &amp; Instagram built in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160520" y="4160520"/>
            <a:ext cx="502920" cy="502920"/>
          </a:xfrm>
          <a:prstGeom prst="ellipse">
            <a:avLst/>
          </a:prstGeom>
          <a:solidFill>
            <a:srgbClr val="7C2D12"/>
          </a:solidFill>
          <a:ln/>
        </p:spPr>
      </p:sp>
      <p:sp>
        <p:nvSpPr>
          <p:cNvPr id="22" name="Text 20"/>
          <p:cNvSpPr/>
          <p:nvPr/>
        </p:nvSpPr>
        <p:spPr>
          <a:xfrm>
            <a:off x="4160520" y="4160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🌐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800600" y="41148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A1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Languages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800600" y="443484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5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English, Tamil, Telugu, Hindi, and Kannada — auto-translated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772400" y="4160520"/>
            <a:ext cx="502920" cy="502920"/>
          </a:xfrm>
          <a:prstGeom prst="ellipse">
            <a:avLst/>
          </a:prstGeom>
          <a:solidFill>
            <a:srgbClr val="7C2D12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0" y="4160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8412480" y="41148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A1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RSVP Analytics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412480" y="443484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5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headcounts instead of guessing from a group chat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10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C99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event record. Every channel stays in sync.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7C2D12"/>
          </a:solidFill>
          <a:ln w="12700">
            <a:solidFill>
              <a:srgbClr val="C994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01752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(React + Vite)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60520" y="2788920"/>
            <a:ext cx="2286000" cy="1463040"/>
          </a:xfrm>
          <a:prstGeom prst="roundRect">
            <a:avLst>
              <a:gd name="adj" fmla="val 8750"/>
            </a:avLst>
          </a:prstGeom>
          <a:solidFill>
            <a:srgbClr val="C9943A"/>
          </a:solidFill>
          <a:ln/>
        </p:spPr>
      </p:sp>
      <p:sp>
        <p:nvSpPr>
          <p:cNvPr id="7" name="Text 5"/>
          <p:cNvSpPr/>
          <p:nvPr/>
        </p:nvSpPr>
        <p:spPr>
          <a:xfrm>
            <a:off x="4160520" y="2788920"/>
            <a:ext cx="2286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B10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2B10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source of truth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549640" y="1417320"/>
            <a:ext cx="3017520" cy="914400"/>
          </a:xfrm>
          <a:prstGeom prst="roundRect">
            <a:avLst>
              <a:gd name="adj" fmla="val 10000"/>
            </a:avLst>
          </a:prstGeom>
          <a:solidFill>
            <a:srgbClr val="7C2D12"/>
          </a:solidFill>
          <a:ln w="12700">
            <a:solidFill>
              <a:srgbClr val="C994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49640" y="14173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Calendar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AI Chatbot (Claude)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549640" y="2743200"/>
            <a:ext cx="3017520" cy="914400"/>
          </a:xfrm>
          <a:prstGeom prst="roundRect">
            <a:avLst>
              <a:gd name="adj" fmla="val 10000"/>
            </a:avLst>
          </a:prstGeom>
          <a:solidFill>
            <a:srgbClr val="7C2D12"/>
          </a:solidFill>
          <a:ln w="12700">
            <a:solidFill>
              <a:srgbClr val="C994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4964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/ FB / IG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Broadcast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549640" y="4069080"/>
            <a:ext cx="3017520" cy="914400"/>
          </a:xfrm>
          <a:prstGeom prst="roundRect">
            <a:avLst>
              <a:gd name="adj" fmla="val 10000"/>
            </a:avLst>
          </a:prstGeom>
          <a:solidFill>
            <a:srgbClr val="7C2D12"/>
          </a:solidFill>
          <a:ln w="12700">
            <a:solidFill>
              <a:srgbClr val="C994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49640" y="406908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Flyer Studio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(DALL·E)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017520" y="3520440"/>
            <a:ext cx="1143000" cy="0"/>
          </a:xfrm>
          <a:prstGeom prst="line">
            <a:avLst/>
          </a:prstGeom>
          <a:noFill/>
          <a:ln w="19050">
            <a:solidFill>
              <a:srgbClr val="C994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46520" y="3520440"/>
            <a:ext cx="502920" cy="0"/>
          </a:xfrm>
          <a:prstGeom prst="line">
            <a:avLst/>
          </a:prstGeom>
          <a:noFill/>
          <a:ln w="19050">
            <a:solidFill>
              <a:srgbClr val="C9943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49440" y="1874520"/>
            <a:ext cx="0" cy="2651760"/>
          </a:xfrm>
          <a:prstGeom prst="line">
            <a:avLst/>
          </a:prstGeom>
          <a:noFill/>
          <a:ln w="19050">
            <a:solidFill>
              <a:srgbClr val="C994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0" y="1874520"/>
            <a:ext cx="1600200" cy="0"/>
          </a:xfrm>
          <a:prstGeom prst="line">
            <a:avLst/>
          </a:prstGeom>
          <a:noFill/>
          <a:ln w="19050">
            <a:solidFill>
              <a:srgbClr val="C9943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49440" y="3200400"/>
            <a:ext cx="1600200" cy="0"/>
          </a:xfrm>
          <a:prstGeom prst="line">
            <a:avLst/>
          </a:prstGeom>
          <a:noFill/>
          <a:ln w="19050">
            <a:solidFill>
              <a:srgbClr val="C9943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49440" y="4526280"/>
            <a:ext cx="1600200" cy="0"/>
          </a:xfrm>
          <a:prstGeom prst="line">
            <a:avLst/>
          </a:prstGeom>
          <a:noFill/>
          <a:ln w="19050">
            <a:solidFill>
              <a:srgbClr val="C994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E8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React + Vite  ·  Node/Express  ·  AWS App Runner + ECR  ·  DynamoDB  ·  Anthropic Claude  ·  OpenAI DALL·E  ·  Multi-tenant ready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9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INNOVATION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1C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that's actually grounded — not generic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03520" cy="4480560"/>
          </a:xfrm>
          <a:prstGeom prst="roundRect">
            <a:avLst>
              <a:gd name="adj" fmla="val 2449"/>
            </a:avLst>
          </a:prstGeom>
          <a:solidFill>
            <a:srgbClr val="FBF3E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830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Chatbot grounded in live events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2340864"/>
            <a:ext cx="91440" cy="91440"/>
          </a:xfrm>
          <a:prstGeom prst="rect">
            <a:avLst/>
          </a:prstGeom>
          <a:solidFill>
            <a:srgbClr val="C9943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9456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A1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calendar fetches real events from DynamoDB on load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68680" y="3209544"/>
            <a:ext cx="91440" cy="91440"/>
          </a:xfrm>
          <a:prstGeom prst="rect">
            <a:avLst/>
          </a:prstGeom>
          <a:solidFill>
            <a:srgbClr val="C9943A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306324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A1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question is answered with those live events injected directly into the Claude system prompt — a lightweight RAG pattern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68680" y="4078224"/>
            <a:ext cx="91440" cy="91440"/>
          </a:xfrm>
          <a:prstGeom prst="rect">
            <a:avLst/>
          </a:prstGeom>
          <a:solidFill>
            <a:srgbClr val="C9943A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93192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A1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tuned for tone: warm, devotional language (🙏, "Namaste") — not a cold support bot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68680" y="4946904"/>
            <a:ext cx="91440" cy="91440"/>
          </a:xfrm>
          <a:prstGeom prst="rect">
            <a:avLst/>
          </a:prstGeom>
          <a:solidFill>
            <a:srgbClr val="C9943A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80060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A1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hallucinated dates, timings, or event names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1554480"/>
            <a:ext cx="5440680" cy="4480560"/>
          </a:xfrm>
          <a:prstGeom prst="roundRect">
            <a:avLst>
              <a:gd name="adj" fmla="val 2449"/>
            </a:avLst>
          </a:prstGeom>
          <a:solidFill>
            <a:srgbClr val="FBF3E7"/>
          </a:solidFill>
          <a:ln/>
        </p:spPr>
      </p:sp>
      <p:sp>
        <p:nvSpPr>
          <p:cNvPr id="15" name="Text 13"/>
          <p:cNvSpPr/>
          <p:nvPr/>
        </p:nvSpPr>
        <p:spPr>
          <a:xfrm>
            <a:off x="6446520" y="1783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🪔  Deity-aware AI Flyer Studio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92240" y="2340864"/>
            <a:ext cx="91440" cy="91440"/>
          </a:xfrm>
          <a:prstGeom prst="rect">
            <a:avLst/>
          </a:prstGeom>
          <a:solidFill>
            <a:srgbClr val="C9943A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219456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A1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17-entry curated prompt library — Varalakshmi Vratam's kalasha imagery ≠ Ganesh Chaturthi ≠ Ekadashi's reclining Vishnu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92240" y="3300984"/>
            <a:ext cx="91440" cy="91440"/>
          </a:xfrm>
          <a:prstGeom prst="rect">
            <a:avLst/>
          </a:prstGeom>
          <a:solidFill>
            <a:srgbClr val="C9943A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315468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A1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Auto-matches event title/type to the right prompt, editable dropdown for manual override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92240" y="4261104"/>
            <a:ext cx="91440" cy="91440"/>
          </a:xfrm>
          <a:prstGeom prst="rect">
            <a:avLst/>
          </a:prstGeom>
          <a:solidFill>
            <a:srgbClr val="C9943A"/>
          </a:solidFill>
          <a:ln/>
        </p:spPr>
      </p:sp>
      <p:sp>
        <p:nvSpPr>
          <p:cNvPr id="21" name="Text 19"/>
          <p:cNvSpPr/>
          <p:nvPr/>
        </p:nvSpPr>
        <p:spPr>
          <a:xfrm>
            <a:off x="6720840" y="411480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A1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via DALL·E, composites onto the flyer canvas with text/branding layers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92240" y="5221224"/>
            <a:ext cx="91440" cy="91440"/>
          </a:xfrm>
          <a:prstGeom prst="rect">
            <a:avLst/>
          </a:prstGeom>
          <a:solidFill>
            <a:srgbClr val="C9943A"/>
          </a:solidFill>
          <a:ln/>
        </p:spPr>
      </p:sp>
      <p:sp>
        <p:nvSpPr>
          <p:cNvPr id="23" name="Text 21"/>
          <p:cNvSpPr/>
          <p:nvPr/>
        </p:nvSpPr>
        <p:spPr>
          <a:xfrm>
            <a:off x="6720840" y="507492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A1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5-language translation, incl. Kannada, with matching fonts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B10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C99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mockup — live in production today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949440" cy="4480560"/>
          </a:xfrm>
          <a:prstGeom prst="roundRect">
            <a:avLst>
              <a:gd name="adj" fmla="val 2449"/>
            </a:avLst>
          </a:prstGeom>
          <a:solidFill>
            <a:srgbClr val="3A1508"/>
          </a:solidFill>
          <a:ln w="9525">
            <a:solidFill>
              <a:srgbClr val="C994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00200"/>
            <a:ext cx="6949440" cy="448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5A2410"/>
                </a:solidFill>
              </a:rPr>
              <a:t>▶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3-minute walkthrough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818120" y="1691640"/>
            <a:ext cx="365760" cy="365760"/>
          </a:xfrm>
          <a:prstGeom prst="ellipse">
            <a:avLst/>
          </a:prstGeom>
          <a:solidFill>
            <a:srgbClr val="C9943A"/>
          </a:solidFill>
          <a:ln/>
        </p:spPr>
      </p:sp>
      <p:sp>
        <p:nvSpPr>
          <p:cNvPr id="8" name="Text 6"/>
          <p:cNvSpPr/>
          <p:nvPr/>
        </p:nvSpPr>
        <p:spPr>
          <a:xfrm>
            <a:off x="7818120" y="1691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B10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321040" y="1618488"/>
            <a:ext cx="3337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FE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creates an event — Events/Panchang tabs keep the calendar clean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818120" y="2743200"/>
            <a:ext cx="365760" cy="365760"/>
          </a:xfrm>
          <a:prstGeom prst="ellipse">
            <a:avLst/>
          </a:prstGeom>
          <a:solidFill>
            <a:srgbClr val="C9943A"/>
          </a:solidFill>
          <a:ln/>
        </p:spPr>
      </p:sp>
      <p:sp>
        <p:nvSpPr>
          <p:cNvPr id="11" name="Text 9"/>
          <p:cNvSpPr/>
          <p:nvPr/>
        </p:nvSpPr>
        <p:spPr>
          <a:xfrm>
            <a:off x="7818120" y="2743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B10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321040" y="2670048"/>
            <a:ext cx="3337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FE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toolbar: +GCal, Edit, Flyer, Delete — for whatever's clicked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818120" y="3794760"/>
            <a:ext cx="365760" cy="365760"/>
          </a:xfrm>
          <a:prstGeom prst="ellipse">
            <a:avLst/>
          </a:prstGeom>
          <a:solidFill>
            <a:srgbClr val="C9943A"/>
          </a:solidFill>
          <a:ln/>
        </p:spPr>
      </p:sp>
      <p:sp>
        <p:nvSpPr>
          <p:cNvPr id="14" name="Text 12"/>
          <p:cNvSpPr/>
          <p:nvPr/>
        </p:nvSpPr>
        <p:spPr>
          <a:xfrm>
            <a:off x="7818120" y="3794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B10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21040" y="3721608"/>
            <a:ext cx="3337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FE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Flyer Studio generates a deity-specific image + Kannada translation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818120" y="4846320"/>
            <a:ext cx="365760" cy="365760"/>
          </a:xfrm>
          <a:prstGeom prst="ellipse">
            <a:avLst/>
          </a:prstGeom>
          <a:solidFill>
            <a:srgbClr val="C9943A"/>
          </a:solidFill>
          <a:ln/>
        </p:spPr>
      </p:sp>
      <p:sp>
        <p:nvSpPr>
          <p:cNvPr id="17" name="Text 15"/>
          <p:cNvSpPr/>
          <p:nvPr/>
        </p:nvSpPr>
        <p:spPr>
          <a:xfrm>
            <a:off x="7818120" y="4846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B10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21040" y="4773168"/>
            <a:ext cx="3337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FE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calendar chatbot answers real questions from live events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62636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99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calendarflyapp.com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9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1C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usage, not just a prototype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1920240"/>
          </a:xfrm>
          <a:prstGeom prst="roundRect">
            <a:avLst>
              <a:gd name="adj" fmla="val 4762"/>
            </a:avLst>
          </a:prstGeom>
          <a:solidFill>
            <a:srgbClr val="FBF3E7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65960"/>
            <a:ext cx="548640" cy="548640"/>
          </a:xfrm>
          <a:prstGeom prst="ellipse">
            <a:avLst/>
          </a:prstGeom>
          <a:solidFill>
            <a:srgbClr val="7C2D12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🙏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19659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1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at a community event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60604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5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CalendarFly runs in production today — this began as a volunteer project for an actual temple community before becoming a SaaS product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349240" cy="1920240"/>
          </a:xfrm>
          <a:prstGeom prst="roundRect">
            <a:avLst>
              <a:gd name="adj" fmla="val 4762"/>
            </a:avLst>
          </a:prstGeom>
          <a:solidFill>
            <a:srgbClr val="FBF3E7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0" y="1965960"/>
            <a:ext cx="548640" cy="548640"/>
          </a:xfrm>
          <a:prstGeom prst="ellipse">
            <a:avLst/>
          </a:prstGeom>
          <a:solidFill>
            <a:srgbClr val="7C2D12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65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⏱️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132320" y="19659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1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back every week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0" y="260604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5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event entry replaces manual re-typing across a spreadsheet, a flyer tool, and a dozen WhatsApp forwards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5349240" cy="1920240"/>
          </a:xfrm>
          <a:prstGeom prst="roundRect">
            <a:avLst>
              <a:gd name="adj" fmla="val 4762"/>
            </a:avLst>
          </a:prstGeom>
          <a:solidFill>
            <a:srgbClr val="FBF3E7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rgbClr val="7C2D12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114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554480" y="41148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1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bot that actually helps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475488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5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Devotees get accurate, warm answers about timings and events instead of an unanswered WhatsApp message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26480" y="3840480"/>
            <a:ext cx="5349240" cy="1920240"/>
          </a:xfrm>
          <a:prstGeom prst="roundRect">
            <a:avLst>
              <a:gd name="adj" fmla="val 4762"/>
            </a:avLst>
          </a:prstGeom>
          <a:solidFill>
            <a:srgbClr val="FBF3E7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4114800"/>
            <a:ext cx="548640" cy="548640"/>
          </a:xfrm>
          <a:prstGeom prst="ellipse">
            <a:avLst/>
          </a:prstGeom>
          <a:solidFill>
            <a:srgbClr val="7C2D1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4114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132320" y="41148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1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 for organizers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0" y="475488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5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RSVP analytics replace guessing headcounts from a group chat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&amp; VIABILITY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A1C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self-serve SaaS that scales across communities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BF3E7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82880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1C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269748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5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org, core calendar + chatbot, WhatsApp broadcast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6916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BF3E7"/>
          </a:solidFill>
          <a:ln/>
        </p:spPr>
      </p:sp>
      <p:sp>
        <p:nvSpPr>
          <p:cNvPr id="9" name="Text 7"/>
          <p:cNvSpPr/>
          <p:nvPr/>
        </p:nvSpPr>
        <p:spPr>
          <a:xfrm>
            <a:off x="4526280" y="182880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26280" y="219456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1C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Paid / mo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26280" y="269748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5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Multi-language, AI flyer studio, RSVP analytics, priority support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6916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BF3E7"/>
          </a:solidFill>
          <a:ln/>
        </p:spPr>
      </p:sp>
      <p:sp>
        <p:nvSpPr>
          <p:cNvPr id="13" name="Text 11"/>
          <p:cNvSpPr/>
          <p:nvPr/>
        </p:nvSpPr>
        <p:spPr>
          <a:xfrm>
            <a:off x="8275320" y="182880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75320" y="219456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1C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75320" y="269748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5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for federations (e.g. AKKA-affiliated Kannada Kootas), FB/IG, white-label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4023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1C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scales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4360" y="4553712"/>
            <a:ext cx="109728" cy="109728"/>
          </a:xfrm>
          <a:prstGeom prst="rect">
            <a:avLst/>
          </a:prstGeom>
          <a:solidFill>
            <a:srgbClr val="C9943A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40740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A1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architecture already built — every temple/association gets its own org, same codebase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94360" y="5056632"/>
            <a:ext cx="109728" cy="109728"/>
          </a:xfrm>
          <a:prstGeom prst="rect">
            <a:avLst/>
          </a:prstGeom>
          <a:solidFill>
            <a:srgbClr val="C9943A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491032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A1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 fits Kannada Kootas, cultural associations, and community/tourism boards beyond Hindu temples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94360" y="5559552"/>
            <a:ext cx="109728" cy="109728"/>
          </a:xfrm>
          <a:prstGeom prst="rect">
            <a:avLst/>
          </a:prstGeom>
          <a:solidFill>
            <a:srgbClr val="C994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541324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A1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marginal cost per org (serverless AWS App Runner + DynamoDB) keeps pricing accessible for volunteer-run nonprofits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10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C99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NEXT 6 MONTHS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we'd build with more runway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01168" cy="201168"/>
          </a:xfrm>
          <a:prstGeom prst="ellipse">
            <a:avLst/>
          </a:prstGeom>
          <a:solidFill>
            <a:srgbClr val="C9943A"/>
          </a:solidFill>
          <a:ln/>
        </p:spPr>
      </p:sp>
      <p:sp>
        <p:nvSpPr>
          <p:cNvPr id="5" name="Shape 3"/>
          <p:cNvSpPr/>
          <p:nvPr/>
        </p:nvSpPr>
        <p:spPr>
          <a:xfrm>
            <a:off x="740664" y="1938528"/>
            <a:ext cx="0" cy="685800"/>
          </a:xfrm>
          <a:prstGeom prst="line">
            <a:avLst/>
          </a:prstGeom>
          <a:noFill/>
          <a:ln w="15875">
            <a:solidFill>
              <a:srgbClr val="C9943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1097280" y="1627632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9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0" y="1627632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 &amp; Instagram broadcast, mobile-responsive PWA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201168" cy="201168"/>
          </a:xfrm>
          <a:prstGeom prst="ellipse">
            <a:avLst/>
          </a:prstGeom>
          <a:solidFill>
            <a:srgbClr val="C9943A"/>
          </a:solidFill>
          <a:ln/>
        </p:spPr>
      </p:sp>
      <p:sp>
        <p:nvSpPr>
          <p:cNvPr id="9" name="Shape 7"/>
          <p:cNvSpPr/>
          <p:nvPr/>
        </p:nvSpPr>
        <p:spPr>
          <a:xfrm>
            <a:off x="740664" y="2825496"/>
            <a:ext cx="0" cy="685800"/>
          </a:xfrm>
          <a:prstGeom prst="line">
            <a:avLst/>
          </a:prstGeom>
          <a:noFill/>
          <a:ln w="15875">
            <a:solidFill>
              <a:srgbClr val="C9943A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097280" y="251460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9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2-3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43200" y="25146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Stream + Live Photo Sharing for events happening in real time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511296"/>
            <a:ext cx="201168" cy="201168"/>
          </a:xfrm>
          <a:prstGeom prst="ellipse">
            <a:avLst/>
          </a:prstGeom>
          <a:solidFill>
            <a:srgbClr val="C9943A"/>
          </a:solidFill>
          <a:ln/>
        </p:spPr>
      </p:sp>
      <p:sp>
        <p:nvSpPr>
          <p:cNvPr id="13" name="Shape 11"/>
          <p:cNvSpPr/>
          <p:nvPr/>
        </p:nvSpPr>
        <p:spPr>
          <a:xfrm>
            <a:off x="740664" y="3712464"/>
            <a:ext cx="0" cy="685800"/>
          </a:xfrm>
          <a:prstGeom prst="line">
            <a:avLst/>
          </a:prstGeom>
          <a:noFill/>
          <a:ln w="15875">
            <a:solidFill>
              <a:srgbClr val="C9943A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1097280" y="340156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9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3-4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743200" y="340156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Followers — devotees follow a temple without WhatsApp/email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398264"/>
            <a:ext cx="201168" cy="201168"/>
          </a:xfrm>
          <a:prstGeom prst="ellipse">
            <a:avLst/>
          </a:prstGeom>
          <a:solidFill>
            <a:srgbClr val="C9943A"/>
          </a:solidFill>
          <a:ln/>
        </p:spPr>
      </p:sp>
      <p:sp>
        <p:nvSpPr>
          <p:cNvPr id="17" name="Shape 15"/>
          <p:cNvSpPr/>
          <p:nvPr/>
        </p:nvSpPr>
        <p:spPr>
          <a:xfrm>
            <a:off x="740664" y="4599432"/>
            <a:ext cx="0" cy="685800"/>
          </a:xfrm>
          <a:prstGeom prst="line">
            <a:avLst/>
          </a:prstGeom>
          <a:noFill/>
          <a:ln w="15875">
            <a:solidFill>
              <a:srgbClr val="C9943A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1097280" y="4288536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9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4-5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743200" y="4288536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Volunteer Dashboard — seva sign-ups, shift coordination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0080" y="5285232"/>
            <a:ext cx="201168" cy="201168"/>
          </a:xfrm>
          <a:prstGeom prst="ellipse">
            <a:avLst/>
          </a:prstGeom>
          <a:solidFill>
            <a:srgbClr val="C9943A"/>
          </a:solidFill>
          <a:ln/>
        </p:spPr>
      </p:sp>
      <p:sp>
        <p:nvSpPr>
          <p:cNvPr id="21" name="Text 19"/>
          <p:cNvSpPr/>
          <p:nvPr/>
        </p:nvSpPr>
        <p:spPr>
          <a:xfrm>
            <a:off x="1097280" y="5175504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9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5-6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43200" y="5175504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org signup at scale, usage analytics, sandbox/demo mode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9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B10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0680" y="640080"/>
            <a:ext cx="914400" cy="914400"/>
          </a:xfrm>
          <a:prstGeom prst="ellipse">
            <a:avLst/>
          </a:prstGeom>
          <a:solidFill>
            <a:srgbClr val="C9943A"/>
          </a:solidFill>
          <a:ln/>
        </p:spPr>
      </p:sp>
      <p:sp>
        <p:nvSpPr>
          <p:cNvPr id="3" name="Text 1"/>
          <p:cNvSpPr/>
          <p:nvPr/>
        </p:nvSpPr>
        <p:spPr>
          <a:xfrm>
            <a:off x="5440680" y="6400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B100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ॐ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C99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Help us bring CalendarFly to more communities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234440" y="3200400"/>
            <a:ext cx="3108960" cy="2468880"/>
          </a:xfrm>
          <a:prstGeom prst="roundRect">
            <a:avLst>
              <a:gd name="adj" fmla="val 4444"/>
            </a:avLst>
          </a:prstGeom>
          <a:solidFill>
            <a:srgbClr val="3A1508"/>
          </a:solidFill>
          <a:ln w="9525">
            <a:solidFill>
              <a:srgbClr val="C994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23160" y="3429000"/>
            <a:ext cx="731520" cy="731520"/>
          </a:xfrm>
          <a:prstGeom prst="ellipse">
            <a:avLst/>
          </a:prstGeom>
          <a:solidFill>
            <a:srgbClr val="C9943A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34290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🏛️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41732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partners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4663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FE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 to temples &amp; Kannada Kootas within the AKKA network ready to pilot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0" y="3200400"/>
            <a:ext cx="3108960" cy="2468880"/>
          </a:xfrm>
          <a:prstGeom prst="roundRect">
            <a:avLst>
              <a:gd name="adj" fmla="val 4444"/>
            </a:avLst>
          </a:prstGeom>
          <a:solidFill>
            <a:srgbClr val="3A1508"/>
          </a:solidFill>
          <a:ln w="9525">
            <a:solidFill>
              <a:srgbClr val="C994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760720" y="3429000"/>
            <a:ext cx="731520" cy="731520"/>
          </a:xfrm>
          <a:prstGeom prst="ellipse">
            <a:avLst/>
          </a:prstGeom>
          <a:solidFill>
            <a:srgbClr val="C9943A"/>
          </a:solidFill>
          <a:ln/>
        </p:spPr>
      </p:sp>
      <p:sp>
        <p:nvSpPr>
          <p:cNvPr id="13" name="Text 11"/>
          <p:cNvSpPr/>
          <p:nvPr/>
        </p:nvSpPr>
        <p:spPr>
          <a:xfrm>
            <a:off x="5760720" y="34290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💰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75488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 Pitch Event entry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54880" y="4663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FE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 to take CalendarFly to real-world funding and scale it as a product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909560" y="3200400"/>
            <a:ext cx="3108960" cy="2468880"/>
          </a:xfrm>
          <a:prstGeom prst="roundRect">
            <a:avLst>
              <a:gd name="adj" fmla="val 4444"/>
            </a:avLst>
          </a:prstGeom>
          <a:solidFill>
            <a:srgbClr val="3A1508"/>
          </a:solidFill>
          <a:ln w="9525">
            <a:solidFill>
              <a:srgbClr val="C994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3429000"/>
            <a:ext cx="731520" cy="731520"/>
          </a:xfrm>
          <a:prstGeom prst="ellipse">
            <a:avLst/>
          </a:prstGeom>
          <a:solidFill>
            <a:srgbClr val="C9943A"/>
          </a:solidFill>
          <a:ln/>
        </p:spPr>
      </p:sp>
      <p:sp>
        <p:nvSpPr>
          <p:cNvPr id="18" name="Text 16"/>
          <p:cNvSpPr/>
          <p:nvPr/>
        </p:nvSpPr>
        <p:spPr>
          <a:xfrm>
            <a:off x="9098280" y="34290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🤝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09244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feedback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092440" y="4663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FE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Devotees and organizers to stress-test the chatbot and broadcast tools further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99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calendarflyapp.com   ·   github.com/Jayasudhaa/CalendarFlyer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9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1017</Words>
  <Application>Microsoft Office PowerPoint</Application>
  <PresentationFormat>Custom</PresentationFormat>
  <Paragraphs>162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Jaya Sudhaa</cp:lastModifiedBy>
  <cp:revision>3</cp:revision>
  <dcterms:created xsi:type="dcterms:W3CDTF">2026-08-14T01:44:28Z</dcterms:created>
  <dcterms:modified xsi:type="dcterms:W3CDTF">2026-08-16T22:56:29Z</dcterms:modified>
</cp:coreProperties>
</file>